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3774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F5F8FF"/>
                </a:solidFill>
                <a:latin typeface="Segoe UI"/>
              </a:rPr>
              <a:t>End-to-End Encrypted WebRTC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4C9AFF"/>
                </a:solidFill>
                <a:latin typeface="Segoe UI"/>
              </a:rPr>
              <a:t>Zero-Trust SFU with PERC Double Encryption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A9B8D6"/>
                </a:solidFill>
                <a:latin typeface="Segoe UI"/>
              </a:rPr>
              <a:t>str0m (Rust SFU)  ·  Key Distributor (Node.js)  ·  Native libwebrtc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7784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5D09B"/>
                </a:solidFill>
                <a:latin typeface="Segoe UI"/>
              </a:rPr>
              <a:t>Architecture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C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5D09B"/>
                </a:solidFill>
                <a:latin typeface="Segoe UI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Segoe UI"/>
              </a:rPr>
              <a:t>The Goal: media the server can never read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52"/>
              </a:spcAft>
            </a:pPr>
            <a:r>
              <a:rPr sz="1800">
                <a:solidFill>
                  <a:srgbClr val="F5F8FF"/>
                </a:solidFill>
                <a:latin typeface="Segoe UI"/>
              </a:rPr>
              <a:t>• Multi-party WebRTC where the SFU routes media but cannot decrypt it.</a:t>
            </a:r>
          </a:p>
          <a:p>
            <a:pPr>
              <a:spcAft>
                <a:spcPts val="1152"/>
              </a:spcAft>
            </a:pPr>
            <a:r>
              <a:rPr sz="1800">
                <a:solidFill>
                  <a:srgbClr val="F5F8FF"/>
                </a:solidFill>
                <a:latin typeface="Segoe UI"/>
              </a:rPr>
              <a:t>• Compromising the server reveals only metadata — not audio or video.</a:t>
            </a:r>
          </a:p>
          <a:p>
            <a:pPr>
              <a:spcAft>
                <a:spcPts val="1152"/>
              </a:spcAft>
            </a:pPr>
            <a:r>
              <a:rPr sz="1800">
                <a:solidFill>
                  <a:srgbClr val="F5F8FF"/>
                </a:solidFill>
                <a:latin typeface="Segoe UI"/>
              </a:rPr>
              <a:t>• Inspired by IETF PERC: RFC 8871 (framework) + RFC 8723 (double encryption).</a:t>
            </a:r>
          </a:p>
          <a:p>
            <a:pPr>
              <a:spcAft>
                <a:spcPts val="1152"/>
              </a:spcAft>
            </a:pPr>
            <a:r>
              <a:rPr sz="1800">
                <a:solidFill>
                  <a:srgbClr val="F5F8FF"/>
                </a:solidFill>
                <a:latin typeface="Segoe UI"/>
              </a:rPr>
              <a:t>• Keys live only with clients and a trusted Key Distributor.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737360"/>
            <a:ext cx="4937760" cy="1005840"/>
          </a:xfrm>
          <a:prstGeom prst="roundRect">
            <a:avLst/>
          </a:prstGeom>
          <a:solidFill>
            <a:srgbClr val="1B2A4A"/>
          </a:solidFill>
          <a:ln w="15875">
            <a:solidFill>
              <a:srgbClr val="E8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>
                <a:solidFill>
                  <a:srgbClr val="F5F8FF"/>
                </a:solidFill>
                <a:latin typeface="Segoe UI"/>
              </a:rPr>
              <a:t>Traditional SFU</a:t>
            </a:r>
          </a:p>
          <a:p>
            <a:pPr algn="ctr"/>
            <a:r>
              <a:rPr sz="1500" b="0">
                <a:solidFill>
                  <a:srgbClr val="F5F8FF"/>
                </a:solidFill>
                <a:latin typeface="Segoe UI"/>
              </a:rPr>
              <a:t>decrypts &amp; re-encrypts media → server sees everything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3017520"/>
            <a:ext cx="4937760" cy="1005840"/>
          </a:xfrm>
          <a:prstGeom prst="roundRect">
            <a:avLst/>
          </a:prstGeom>
          <a:solidFill>
            <a:srgbClr val="1B2A4A"/>
          </a:solidFill>
          <a:ln w="15875">
            <a:solidFill>
              <a:srgbClr val="35D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>
                <a:solidFill>
                  <a:srgbClr val="F5F8FF"/>
                </a:solidFill>
                <a:latin typeface="Segoe UI"/>
              </a:rPr>
              <a:t>Zero-Trust SFU (this project)</a:t>
            </a:r>
          </a:p>
          <a:p>
            <a:pPr algn="ctr"/>
            <a:r>
              <a:rPr sz="1500" b="0">
                <a:solidFill>
                  <a:srgbClr val="F5F8FF"/>
                </a:solidFill>
                <a:latin typeface="Segoe UI"/>
              </a:rPr>
              <a:t>routes by RTP headers only → media stays sealed E2E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4297680"/>
            <a:ext cx="4937760" cy="1188720"/>
          </a:xfrm>
          <a:prstGeom prst="roundRect">
            <a:avLst/>
          </a:prstGeom>
          <a:solidFill>
            <a:srgbClr val="6B478F"/>
          </a:solidFill>
          <a:ln w="15875">
            <a:solidFill>
              <a:srgbClr val="4C9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5F8FF"/>
                </a:solidFill>
                <a:latin typeface="Segoe UI"/>
              </a:rPr>
              <a:t>Result</a:t>
            </a:r>
          </a:p>
          <a:p>
            <a:pPr algn="ctr"/>
            <a:r>
              <a:rPr sz="1600" b="1">
                <a:solidFill>
                  <a:srgbClr val="F5F8FF"/>
                </a:solidFill>
                <a:latin typeface="Segoe UI"/>
              </a:rPr>
              <a:t>Encrypted audio AND video verified end-to-end through the SFU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9B8D6"/>
                </a:solidFill>
                <a:latin typeface="Segoe UI"/>
              </a:rPr>
              <a:t>E2EE WebRTC — Zero-Trust SFU (str0m + PERC)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9B8D6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C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5D09B"/>
                </a:solidFill>
                <a:latin typeface="Segoe UI"/>
              </a:rPr>
              <a:t>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Segoe UI"/>
              </a:rPr>
              <a:t>Three components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474720" cy="2194560"/>
          </a:xfrm>
          <a:prstGeom prst="roundRect">
            <a:avLst/>
          </a:prstGeom>
          <a:solidFill>
            <a:srgbClr val="6B478F"/>
          </a:solidFill>
          <a:ln w="15875">
            <a:solidFill>
              <a:srgbClr val="4C9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5F8FF"/>
                </a:solidFill>
                <a:latin typeface="Segoe UI"/>
              </a:rPr>
              <a:t>SFU  (str0m, Rust)</a:t>
            </a:r>
          </a:p>
          <a:p>
            <a:pPr algn="ctr"/>
            <a:r>
              <a:rPr sz="1400" b="0">
                <a:solidFill>
                  <a:srgbClr val="F5F8FF"/>
                </a:solidFill>
                <a:latin typeface="Segoe UI"/>
              </a:rPr>
              <a:t/>
            </a:r>
          </a:p>
          <a:p>
            <a:pPr algn="ctr"/>
            <a:r>
              <a:rPr sz="1400" b="0">
                <a:solidFill>
                  <a:srgbClr val="F5F8FF"/>
                </a:solidFill>
                <a:latin typeface="Segoe UI"/>
              </a:rPr>
              <a:t>Hop-by-hop DTLS-SRTP per leg</a:t>
            </a:r>
          </a:p>
          <a:p>
            <a:pPr algn="ctr"/>
            <a:r>
              <a:rPr sz="1400" b="0">
                <a:solidFill>
                  <a:srgbClr val="F5F8FF"/>
                </a:solidFill>
                <a:latin typeface="Segoe UI"/>
              </a:rPr>
              <a:t>Routes by SSRC</a:t>
            </a:r>
          </a:p>
          <a:p>
            <a:pPr algn="ctr"/>
            <a:r>
              <a:rPr sz="1400" b="0">
                <a:solidFill>
                  <a:srgbClr val="F5F8FF"/>
                </a:solidFill>
                <a:latin typeface="Segoe UI"/>
              </a:rPr>
              <a:t>Forwards inner E2E payload</a:t>
            </a:r>
          </a:p>
          <a:p>
            <a:pPr algn="ctr"/>
            <a:r>
              <a:rPr sz="1400" b="0">
                <a:solidFill>
                  <a:srgbClr val="F5F8FF"/>
                </a:solidFill>
                <a:latin typeface="Segoe UI"/>
              </a:rPr>
              <a:t>Untrusted for secrecy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474720" cy="2194560"/>
          </a:xfrm>
          <a:prstGeom prst="roundRect">
            <a:avLst/>
          </a:prstGeom>
          <a:solidFill>
            <a:srgbClr val="2E7D6B"/>
          </a:solidFill>
          <a:ln w="15875">
            <a:solidFill>
              <a:srgbClr val="35D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5F8FF"/>
                </a:solidFill>
                <a:latin typeface="Segoe UI"/>
              </a:rPr>
              <a:t>Key Distributor (Node.js)</a:t>
            </a:r>
          </a:p>
          <a:p>
            <a:pPr algn="ctr"/>
            <a:r>
              <a:rPr sz="1400" b="0">
                <a:solidFill>
                  <a:srgbClr val="F5F8FF"/>
                </a:solidFill>
                <a:latin typeface="Segoe UI"/>
              </a:rPr>
              <a:t/>
            </a:r>
          </a:p>
          <a:p>
            <a:pPr algn="ctr"/>
            <a:r>
              <a:rPr sz="1400" b="0">
                <a:solidFill>
                  <a:srgbClr val="F5F8FF"/>
                </a:solidFill>
                <a:latin typeface="Segoe UI"/>
              </a:rPr>
              <a:t>Issues / rotates E2E keys</a:t>
            </a:r>
          </a:p>
          <a:p>
            <a:pPr algn="ctr"/>
            <a:r>
              <a:rPr sz="1400" b="0">
                <a:solidFill>
                  <a:srgbClr val="F5F8FF"/>
                </a:solidFill>
                <a:latin typeface="Segoe UI"/>
              </a:rPr>
              <a:t>Authenticates participants</a:t>
            </a:r>
          </a:p>
          <a:p>
            <a:pPr algn="ctr"/>
            <a:r>
              <a:rPr sz="1400" b="0">
                <a:solidFill>
                  <a:srgbClr val="F5F8FF"/>
                </a:solidFill>
                <a:latin typeface="Segoe UI"/>
              </a:rPr>
              <a:t>Never touches media</a:t>
            </a:r>
          </a:p>
          <a:p>
            <a:pPr algn="ctr"/>
            <a:r>
              <a:rPr sz="1400" b="0">
                <a:solidFill>
                  <a:srgbClr val="F5F8FF"/>
                </a:solidFill>
                <a:latin typeface="Segoe UI"/>
              </a:rPr>
              <a:t>Trusted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737360"/>
            <a:ext cx="3383280" cy="2194560"/>
          </a:xfrm>
          <a:prstGeom prst="roundRect">
            <a:avLst/>
          </a:prstGeom>
          <a:solidFill>
            <a:srgbClr val="2E5C9E"/>
          </a:solidFill>
          <a:ln w="15875">
            <a:solidFill>
              <a:srgbClr val="4C9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5F8FF"/>
                </a:solidFill>
                <a:latin typeface="Segoe UI"/>
              </a:rPr>
              <a:t>Native Client (C++/Node)</a:t>
            </a:r>
          </a:p>
          <a:p>
            <a:pPr algn="ctr"/>
            <a:r>
              <a:rPr sz="1400" b="0">
                <a:solidFill>
                  <a:srgbClr val="F5F8FF"/>
                </a:solidFill>
                <a:latin typeface="Segoe UI"/>
              </a:rPr>
              <a:t/>
            </a:r>
          </a:p>
          <a:p>
            <a:pPr algn="ctr"/>
            <a:r>
              <a:rPr sz="1400" b="0">
                <a:solidFill>
                  <a:srgbClr val="F5F8FF"/>
                </a:solidFill>
                <a:latin typeface="Segoe UI"/>
              </a:rPr>
              <a:t>libwebrtc + Node.js CLI</a:t>
            </a:r>
          </a:p>
          <a:p>
            <a:pPr algn="ctr"/>
            <a:r>
              <a:rPr sz="1400" b="0">
                <a:solidFill>
                  <a:srgbClr val="F5F8FF"/>
                </a:solidFill>
                <a:latin typeface="Segoe UI"/>
              </a:rPr>
              <a:t>Inner AES-128-GCM E2E</a:t>
            </a:r>
          </a:p>
          <a:p>
            <a:pPr algn="ctr"/>
            <a:r>
              <a:rPr sz="1400" b="0">
                <a:solidFill>
                  <a:srgbClr val="F5F8FF"/>
                </a:solidFill>
                <a:latin typeface="Segoe UI"/>
              </a:rPr>
              <a:t>Frame transformer</a:t>
            </a:r>
          </a:p>
          <a:p>
            <a:pPr algn="ctr"/>
            <a:r>
              <a:rPr sz="1400" b="0">
                <a:solidFill>
                  <a:srgbClr val="F5F8FF"/>
                </a:solidFill>
                <a:latin typeface="Segoe UI"/>
              </a:rPr>
              <a:t>Trusted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297680"/>
            <a:ext cx="10881360" cy="1371600"/>
          </a:xfrm>
          <a:prstGeom prst="roundRect">
            <a:avLst/>
          </a:prstGeom>
          <a:solidFill>
            <a:srgbClr val="1B2A4A"/>
          </a:solidFill>
          <a:ln w="15875">
            <a:solidFill>
              <a:srgbClr val="35D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>
                <a:solidFill>
                  <a:srgbClr val="F5F8FF"/>
                </a:solidFill>
                <a:latin typeface="Segoe UI"/>
              </a:rPr>
              <a:t>Security property</a:t>
            </a:r>
          </a:p>
          <a:p>
            <a:pPr algn="ctr"/>
            <a:r>
              <a:rPr sz="1500" b="0">
                <a:solidFill>
                  <a:srgbClr val="F5F8FF"/>
                </a:solidFill>
                <a:latin typeface="Segoe UI"/>
              </a:rPr>
              <a:t>The SFU terminates only the hop-by-hop layer for routing. The inner end-to-end layer —</a:t>
            </a:r>
          </a:p>
          <a:p>
            <a:pPr algn="ctr"/>
            <a:r>
              <a:rPr sz="1500" b="0">
                <a:solidFill>
                  <a:srgbClr val="F5F8FF"/>
                </a:solidFill>
                <a:latin typeface="Segoe UI"/>
              </a:rPr>
              <a:t>and its key — are never available to the server. Compromise reveals metadata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9B8D6"/>
                </a:solidFill>
                <a:latin typeface="Segoe UI"/>
              </a:rPr>
              <a:t>E2EE WebRTC — Zero-Trust SFU (str0m + PERC)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9B8D6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C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5D09B"/>
                </a:solidFill>
                <a:latin typeface="Segoe UI"/>
              </a:rPr>
              <a:t>WHERE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Segoe UI"/>
              </a:rPr>
              <a:t>Implementation status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881360" cy="1097280"/>
          </a:xfrm>
          <a:prstGeom prst="roundRect">
            <a:avLst/>
          </a:prstGeom>
          <a:solidFill>
            <a:srgbClr val="1B2A4A"/>
          </a:solidFill>
          <a:ln w="15875">
            <a:solidFill>
              <a:srgbClr val="4C9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800" b="0">
                <a:solidFill>
                  <a:srgbClr val="F5F8FF"/>
                </a:solidFill>
                <a:latin typeface="Segoe UI"/>
              </a:rPr>
              <a:t>Phase 1 — 1:1 DTLS-SRTP tunnel (SFU relays opaque packets)        ✅ Verified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17520"/>
            <a:ext cx="10881360" cy="1097280"/>
          </a:xfrm>
          <a:prstGeom prst="roundRect">
            <a:avLst/>
          </a:prstGeom>
          <a:solidFill>
            <a:srgbClr val="1B2A4A"/>
          </a:solidFill>
          <a:ln w="15875">
            <a:solidFill>
              <a:srgbClr val="35D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800" b="0">
                <a:solidFill>
                  <a:srgbClr val="F5F8FF"/>
                </a:solidFill>
                <a:latin typeface="Segoe UI"/>
              </a:rPr>
              <a:t>Phase 2 — PERC double encryption (HBH SFU + frame E2E + Key Distributor)   ✅ Verified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480560"/>
            <a:ext cx="10881360" cy="1188720"/>
          </a:xfrm>
          <a:prstGeom prst="roundRect">
            <a:avLst/>
          </a:prstGeom>
          <a:solidFill>
            <a:srgbClr val="6B478F"/>
          </a:solidFill>
          <a:ln w="15875">
            <a:solidFill>
              <a:srgbClr val="4C9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5F8FF"/>
                </a:solidFill>
                <a:latin typeface="Segoe UI"/>
              </a:rPr>
              <a:t>Now working end-to-end</a:t>
            </a:r>
          </a:p>
          <a:p>
            <a:pPr algn="ctr"/>
            <a:r>
              <a:rPr sz="1600" b="1">
                <a:solidFill>
                  <a:srgbClr val="F5F8FF"/>
                </a:solidFill>
                <a:latin typeface="Segoe UI"/>
              </a:rPr>
              <a:t>Two-way encrypted audio + video · keyframe relay · per-conference key rotation · unified config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9B8D6"/>
                </a:solidFill>
                <a:latin typeface="Segoe UI"/>
              </a:rPr>
              <a:t>E2EE WebRTC — Zero-Trust SFU (str0m + PERC)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9B8D6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C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5D09B"/>
                </a:solidFill>
                <a:latin typeface="Segoe UI"/>
              </a:rPr>
              <a:t>BIG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Segoe UI"/>
              </a:rPr>
              <a:t>High-level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26080"/>
            <a:ext cx="2377440" cy="1463040"/>
          </a:xfrm>
          <a:prstGeom prst="roundRect">
            <a:avLst/>
          </a:prstGeom>
          <a:solidFill>
            <a:srgbClr val="2E5C9E"/>
          </a:solidFill>
          <a:ln w="15875">
            <a:solidFill>
              <a:srgbClr val="4C9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5F8FF"/>
                </a:solidFill>
                <a:latin typeface="Segoe UI"/>
              </a:rPr>
              <a:t>Client A</a:t>
            </a:r>
          </a:p>
          <a:p>
            <a:pPr algn="ctr"/>
            <a:r>
              <a:rPr sz="1500" b="1">
                <a:solidFill>
                  <a:srgbClr val="F5F8FF"/>
                </a:solidFill>
                <a:latin typeface="Segoe UI"/>
              </a:rPr>
              <a:t>encode → E2E → HBH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2926080"/>
            <a:ext cx="2377440" cy="1463040"/>
          </a:xfrm>
          <a:prstGeom prst="roundRect">
            <a:avLst/>
          </a:prstGeom>
          <a:solidFill>
            <a:srgbClr val="6B478F"/>
          </a:solidFill>
          <a:ln w="15875">
            <a:solidFill>
              <a:srgbClr val="4C9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5F8FF"/>
                </a:solidFill>
                <a:latin typeface="Segoe UI"/>
              </a:rPr>
              <a:t>SFU (PERC)</a:t>
            </a:r>
          </a:p>
          <a:p>
            <a:pPr algn="ctr"/>
            <a:r>
              <a:rPr sz="1500" b="1">
                <a:solidFill>
                  <a:srgbClr val="F5F8FF"/>
                </a:solidFill>
                <a:latin typeface="Segoe UI"/>
              </a:rPr>
              <a:t>strip HBH · route · re-HBH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2926080"/>
            <a:ext cx="2377440" cy="1463040"/>
          </a:xfrm>
          <a:prstGeom prst="roundRect">
            <a:avLst/>
          </a:prstGeom>
          <a:solidFill>
            <a:srgbClr val="2E5C9E"/>
          </a:solidFill>
          <a:ln w="15875">
            <a:solidFill>
              <a:srgbClr val="4C9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5F8FF"/>
                </a:solidFill>
                <a:latin typeface="Segoe UI"/>
              </a:rPr>
              <a:t>Client B</a:t>
            </a:r>
          </a:p>
          <a:p>
            <a:pPr algn="ctr"/>
            <a:r>
              <a:rPr sz="1500" b="1">
                <a:solidFill>
                  <a:srgbClr val="F5F8FF"/>
                </a:solidFill>
                <a:latin typeface="Segoe UI"/>
              </a:rPr>
              <a:t>HBH → E2E → decode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1371600"/>
            <a:ext cx="2377440" cy="914400"/>
          </a:xfrm>
          <a:prstGeom prst="roundRect">
            <a:avLst/>
          </a:prstGeom>
          <a:solidFill>
            <a:srgbClr val="2E7D6B"/>
          </a:solidFill>
          <a:ln w="15875">
            <a:solidFill>
              <a:srgbClr val="35D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5F8FF"/>
                </a:solidFill>
                <a:latin typeface="Segoe UI"/>
              </a:rPr>
              <a:t>Key Distributor</a:t>
            </a:r>
          </a:p>
          <a:p>
            <a:pPr algn="ctr"/>
            <a:r>
              <a:rPr sz="1400" b="1">
                <a:solidFill>
                  <a:srgbClr val="F5F8FF"/>
                </a:solidFill>
                <a:latin typeface="Segoe UI"/>
              </a:rPr>
              <a:t>E2E keys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17520" y="3657600"/>
            <a:ext cx="1874520" cy="0"/>
          </a:xfrm>
          <a:prstGeom prst="line">
            <a:avLst/>
          </a:prstGeom>
          <a:ln w="31750">
            <a:solidFill>
              <a:srgbClr val="4C9A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269480" y="3657600"/>
            <a:ext cx="1874520" cy="0"/>
          </a:xfrm>
          <a:prstGeom prst="line">
            <a:avLst/>
          </a:prstGeom>
          <a:ln w="31750">
            <a:solidFill>
              <a:srgbClr val="4C9A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828800" y="2286000"/>
            <a:ext cx="2103120" cy="640080"/>
          </a:xfrm>
          <a:prstGeom prst="line">
            <a:avLst/>
          </a:prstGeom>
          <a:ln w="22225">
            <a:prstDash val="dash"/>
            <a:solidFill>
              <a:srgbClr val="35D09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229600" y="2286000"/>
            <a:ext cx="2103120" cy="640080"/>
          </a:xfrm>
          <a:prstGeom prst="line">
            <a:avLst/>
          </a:prstGeom>
          <a:ln w="22225">
            <a:prstDash val="dash"/>
            <a:solidFill>
              <a:srgbClr val="35D09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926080" y="379476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9B8D6"/>
                </a:solidFill>
                <a:latin typeface="Segoe UI"/>
              </a:rPr>
              <a:t>HBH SRTP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379476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9B8D6"/>
                </a:solidFill>
                <a:latin typeface="Segoe UI"/>
              </a:rPr>
              <a:t>HBH SRTP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3776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9B8D6"/>
                </a:solidFill>
                <a:latin typeface="Segoe UI"/>
              </a:rPr>
              <a:t>Inner E2E layer (green, dashed key delivery) is opaque to the SFU; only the hop-by-hop SRTP differs per leg.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9B8D6"/>
                </a:solidFill>
                <a:latin typeface="Segoe UI"/>
              </a:rPr>
              <a:t>E2EE WebRTC — Zero-Trust SFU (str0m + PERC)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9B8D6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C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5D09B"/>
                </a:solidFill>
                <a:latin typeface="Segoe UI"/>
              </a:rPr>
              <a:t>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Segoe UI"/>
              </a:rPr>
              <a:t>Phase 1 — DTLS tunnel mode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377440" cy="1371600"/>
          </a:xfrm>
          <a:prstGeom prst="roundRect">
            <a:avLst/>
          </a:prstGeom>
          <a:solidFill>
            <a:srgbClr val="2E5C9E"/>
          </a:solidFill>
          <a:ln w="15875">
            <a:solidFill>
              <a:srgbClr val="4C9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5F8FF"/>
                </a:solidFill>
                <a:latin typeface="Segoe UI"/>
              </a:rPr>
              <a:t>Client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2377440"/>
            <a:ext cx="2377440" cy="1371600"/>
          </a:xfrm>
          <a:prstGeom prst="roundRect">
            <a:avLst/>
          </a:prstGeom>
          <a:solidFill>
            <a:srgbClr val="6B478F"/>
          </a:solidFill>
          <a:ln w="15875">
            <a:solidFill>
              <a:srgbClr val="4C9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5F8FF"/>
                </a:solidFill>
                <a:latin typeface="Segoe UI"/>
              </a:rPr>
              <a:t>SFU</a:t>
            </a:r>
          </a:p>
          <a:p>
            <a:pPr algn="ctr"/>
            <a:r>
              <a:rPr sz="1500" b="1">
                <a:solidFill>
                  <a:srgbClr val="F5F8FF"/>
                </a:solidFill>
                <a:latin typeface="Segoe UI"/>
              </a:rPr>
              <a:t>ICE relay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2377440"/>
            <a:ext cx="2377440" cy="1371600"/>
          </a:xfrm>
          <a:prstGeom prst="roundRect">
            <a:avLst/>
          </a:prstGeom>
          <a:solidFill>
            <a:srgbClr val="2E5C9E"/>
          </a:solidFill>
          <a:ln w="15875">
            <a:solidFill>
              <a:srgbClr val="4C9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5F8FF"/>
                </a:solidFill>
                <a:latin typeface="Segoe UI"/>
              </a:rPr>
              <a:t>Client B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17520" y="3063240"/>
            <a:ext cx="1874520" cy="0"/>
          </a:xfrm>
          <a:prstGeom prst="line">
            <a:avLst/>
          </a:prstGeom>
          <a:ln w="27940">
            <a:prstDash val="dash"/>
            <a:solidFill>
              <a:srgbClr val="A9B8D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269480" y="3063240"/>
            <a:ext cx="1874520" cy="0"/>
          </a:xfrm>
          <a:prstGeom prst="line">
            <a:avLst/>
          </a:prstGeom>
          <a:ln w="27940">
            <a:prstDash val="dash"/>
            <a:solidFill>
              <a:srgbClr val="A9B8D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51760" y="1828800"/>
            <a:ext cx="6858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A9B8D6"/>
                </a:solidFill>
                <a:latin typeface="Segoe UI"/>
              </a:rPr>
              <a:t>DTLS · SRTP · SRTCP forwarded as opaque bytes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52"/>
              </a:spcAft>
            </a:pPr>
            <a:r>
              <a:rPr sz="1800">
                <a:solidFill>
                  <a:srgbClr val="F5F8FF"/>
                </a:solidFill>
                <a:latin typeface="Segoe UI"/>
              </a:rPr>
              <a:t>• SFU terminates only ICE/STUN; DTLS handshake runs end-to-end between clients.</a:t>
            </a:r>
          </a:p>
          <a:p>
            <a:pPr>
              <a:spcAft>
                <a:spcPts val="1152"/>
              </a:spcAft>
            </a:pPr>
            <a:r>
              <a:rPr sz="1800">
                <a:solidFill>
                  <a:srgbClr val="F5F8FF"/>
                </a:solidFill>
                <a:latin typeface="Segoe UI"/>
              </a:rPr>
              <a:t>• Fingerprint + SSRC swapping in the SDP answer makes E2E DTLS traverse the SFU.</a:t>
            </a:r>
          </a:p>
          <a:p>
            <a:pPr>
              <a:spcAft>
                <a:spcPts val="1152"/>
              </a:spcAft>
            </a:pPr>
            <a:r>
              <a:rPr sz="1800">
                <a:solidFill>
                  <a:srgbClr val="F5F8FF"/>
                </a:solidFill>
                <a:latin typeface="Segoe UI"/>
              </a:rPr>
              <a:t>• SFU has no SRTP keys at all — but it is point-to-point (1:1).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9B8D6"/>
                </a:solidFill>
                <a:latin typeface="Segoe UI"/>
              </a:rPr>
              <a:t>E2EE WebRTC — Zero-Trust SFU (str0m + PERC)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9B8D6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C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5D09B"/>
                </a:solidFill>
                <a:latin typeface="Segoe UI"/>
              </a:rPr>
              <a:t>CORE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Segoe UI"/>
              </a:rPr>
              <a:t>Phase 2 — PERC double encryption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2468880" cy="1828800"/>
          </a:xfrm>
          <a:prstGeom prst="roundRect">
            <a:avLst/>
          </a:prstGeom>
          <a:solidFill>
            <a:srgbClr val="2E5C9E"/>
          </a:solidFill>
          <a:ln w="15875">
            <a:solidFill>
              <a:srgbClr val="4C9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5F8FF"/>
                </a:solidFill>
                <a:latin typeface="Segoe UI"/>
              </a:rPr>
              <a:t>Client A</a:t>
            </a:r>
          </a:p>
          <a:p>
            <a:pPr algn="ctr"/>
            <a:r>
              <a:rPr sz="1400" b="1">
                <a:solidFill>
                  <a:srgbClr val="F5F8FF"/>
                </a:solidFill>
                <a:latin typeface="Segoe UI"/>
              </a:rPr>
              <a:t/>
            </a:r>
          </a:p>
          <a:p>
            <a:pPr algn="ctr"/>
            <a:r>
              <a:rPr sz="1400" b="1">
                <a:solidFill>
                  <a:srgbClr val="F5F8FF"/>
                </a:solidFill>
                <a:latin typeface="Segoe UI"/>
              </a:rPr>
              <a:t>1  E2E encrypt</a:t>
            </a:r>
          </a:p>
          <a:p>
            <a:pPr algn="ctr"/>
            <a:r>
              <a:rPr sz="1400" b="1">
                <a:solidFill>
                  <a:srgbClr val="F5F8FF"/>
                </a:solidFill>
                <a:latin typeface="Segoe UI"/>
              </a:rPr>
              <a:t>2  HBH encrypt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2743200"/>
            <a:ext cx="2468880" cy="1828800"/>
          </a:xfrm>
          <a:prstGeom prst="roundRect">
            <a:avLst/>
          </a:prstGeom>
          <a:solidFill>
            <a:srgbClr val="6B478F"/>
          </a:solidFill>
          <a:ln w="15875">
            <a:solidFill>
              <a:srgbClr val="4C9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5F8FF"/>
                </a:solidFill>
                <a:latin typeface="Segoe UI"/>
              </a:rPr>
              <a:t>SFU (PERC)</a:t>
            </a:r>
          </a:p>
          <a:p>
            <a:pPr algn="ctr"/>
            <a:r>
              <a:rPr sz="1400" b="1">
                <a:solidFill>
                  <a:srgbClr val="F5F8FF"/>
                </a:solidFill>
                <a:latin typeface="Segoe UI"/>
              </a:rPr>
              <a:t/>
            </a:r>
          </a:p>
          <a:p>
            <a:pPr algn="ctr"/>
            <a:r>
              <a:rPr sz="1400" b="1">
                <a:solidFill>
                  <a:srgbClr val="F5F8FF"/>
                </a:solidFill>
                <a:latin typeface="Segoe UI"/>
              </a:rPr>
              <a:t>strip HBH A</a:t>
            </a:r>
          </a:p>
          <a:p>
            <a:pPr algn="ctr"/>
            <a:r>
              <a:rPr sz="1400" b="1">
                <a:solidFill>
                  <a:srgbClr val="F5F8FF"/>
                </a:solidFill>
                <a:latin typeface="Segoe UI"/>
              </a:rPr>
              <a:t>read RTP headers</a:t>
            </a:r>
          </a:p>
          <a:p>
            <a:pPr algn="ctr"/>
            <a:r>
              <a:rPr sz="1400" b="1">
                <a:solidFill>
                  <a:srgbClr val="F5F8FF"/>
                </a:solidFill>
                <a:latin typeface="Segoe UI"/>
              </a:rPr>
              <a:t>re-HBH for 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2743200"/>
            <a:ext cx="2468880" cy="1828800"/>
          </a:xfrm>
          <a:prstGeom prst="roundRect">
            <a:avLst/>
          </a:prstGeom>
          <a:solidFill>
            <a:srgbClr val="2E5C9E"/>
          </a:solidFill>
          <a:ln w="15875">
            <a:solidFill>
              <a:srgbClr val="4C9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5F8FF"/>
                </a:solidFill>
                <a:latin typeface="Segoe UI"/>
              </a:rPr>
              <a:t>Client B</a:t>
            </a:r>
          </a:p>
          <a:p>
            <a:pPr algn="ctr"/>
            <a:r>
              <a:rPr sz="1400" b="1">
                <a:solidFill>
                  <a:srgbClr val="F5F8FF"/>
                </a:solidFill>
                <a:latin typeface="Segoe UI"/>
              </a:rPr>
              <a:t/>
            </a:r>
          </a:p>
          <a:p>
            <a:pPr algn="ctr"/>
            <a:r>
              <a:rPr sz="1400" b="1">
                <a:solidFill>
                  <a:srgbClr val="F5F8FF"/>
                </a:solidFill>
                <a:latin typeface="Segoe UI"/>
              </a:rPr>
              <a:t>strip HBH B</a:t>
            </a:r>
          </a:p>
          <a:p>
            <a:pPr algn="ctr"/>
            <a:r>
              <a:rPr sz="1400" b="1">
                <a:solidFill>
                  <a:srgbClr val="F5F8FF"/>
                </a:solidFill>
                <a:latin typeface="Segoe UI"/>
              </a:rPr>
              <a:t>strip E2E</a:t>
            </a:r>
          </a:p>
          <a:p>
            <a:pPr algn="ctr"/>
            <a:r>
              <a:rPr sz="1400" b="1">
                <a:solidFill>
                  <a:srgbClr val="F5F8FF"/>
                </a:solidFill>
                <a:latin typeface="Segoe UI"/>
              </a:rPr>
              <a:t>decode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0" y="3657600"/>
            <a:ext cx="1737360" cy="0"/>
          </a:xfrm>
          <a:prstGeom prst="line">
            <a:avLst/>
          </a:prstGeom>
          <a:ln w="31750">
            <a:solidFill>
              <a:srgbClr val="4C9A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0" y="3657600"/>
            <a:ext cx="1737360" cy="0"/>
          </a:xfrm>
          <a:prstGeom prst="line">
            <a:avLst/>
          </a:prstGeom>
          <a:ln w="31750">
            <a:solidFill>
              <a:srgbClr val="4C9A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" y="1554480"/>
            <a:ext cx="10881360" cy="914400"/>
          </a:xfrm>
          <a:prstGeom prst="roundRect">
            <a:avLst/>
          </a:prstGeom>
          <a:solidFill>
            <a:srgbClr val="1B2A4A"/>
          </a:solidFill>
          <a:ln w="15875">
            <a:solidFill>
              <a:srgbClr val="35D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5F8FF"/>
                </a:solidFill>
                <a:latin typeface="Segoe UI"/>
              </a:rPr>
              <a:t>Outer = hop-by-hop SRTP (per leg, SFU has keys)   ·   Inner = end-to-end AES-128-GCM (SFU never has the key)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4632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9B8D6"/>
                </a:solidFill>
                <a:latin typeface="Segoe UI"/>
              </a:rPr>
              <a:t>The SFU decrypts only the outer layer to read SSRC/PT/seq for routing, then re-encrypts the outer layer per receiver. The inner E2E payload is forwarded byte-for-byte.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9B8D6"/>
                </a:solidFill>
                <a:latin typeface="Segoe UI"/>
              </a:rPr>
              <a:t>E2EE WebRTC — Zero-Trust SFU (str0m + PERC)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9B8D6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C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5D09B"/>
                </a:solidFill>
                <a:latin typeface="Segoe UI"/>
              </a:rPr>
              <a:t>SECURITY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Segoe UI"/>
              </a:rPr>
              <a:t>Roles &amp; trust boundaries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303520" cy="1828800"/>
          </a:xfrm>
          <a:prstGeom prst="roundRect">
            <a:avLst/>
          </a:prstGeom>
          <a:solidFill>
            <a:srgbClr val="1B2A4A"/>
          </a:solidFill>
          <a:ln w="15875">
            <a:solidFill>
              <a:srgbClr val="35D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0">
                <a:solidFill>
                  <a:srgbClr val="F5F8FF"/>
                </a:solidFill>
                <a:latin typeface="Segoe UI"/>
              </a:rPr>
              <a:t>TRUSTED</a:t>
            </a:r>
          </a:p>
          <a:p>
            <a:pPr algn="l"/>
            <a:r>
              <a:rPr sz="1500" b="0">
                <a:solidFill>
                  <a:srgbClr val="F5F8FF"/>
                </a:solidFill>
                <a:latin typeface="Segoe UI"/>
              </a:rPr>
              <a:t/>
            </a:r>
          </a:p>
          <a:p>
            <a:pPr algn="l"/>
            <a:r>
              <a:rPr sz="1500" b="0">
                <a:solidFill>
                  <a:srgbClr val="F5F8FF"/>
                </a:solidFill>
                <a:latin typeface="Segoe UI"/>
              </a:rPr>
              <a:t>Client devices &amp; app code</a:t>
            </a:r>
          </a:p>
          <a:p>
            <a:pPr algn="l"/>
            <a:r>
              <a:rPr sz="1500" b="0">
                <a:solidFill>
                  <a:srgbClr val="F5F8FF"/>
                </a:solidFill>
                <a:latin typeface="Segoe UI"/>
              </a:rPr>
              <a:t>libwebrtc (DTLS, SRTP, codecs)</a:t>
            </a:r>
          </a:p>
          <a:p>
            <a:pPr algn="l"/>
            <a:r>
              <a:rPr sz="1500" b="0">
                <a:solidFill>
                  <a:srgbClr val="F5F8FF"/>
                </a:solidFill>
                <a:latin typeface="Segoe UI"/>
              </a:rPr>
              <a:t>Key Distributor (holds E2E keys)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303520" cy="1828800"/>
          </a:xfrm>
          <a:prstGeom prst="roundRect">
            <a:avLst/>
          </a:prstGeom>
          <a:solidFill>
            <a:srgbClr val="1B2A4A"/>
          </a:solidFill>
          <a:ln w="15875">
            <a:solidFill>
              <a:srgbClr val="E8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0">
                <a:solidFill>
                  <a:srgbClr val="F5F8FF"/>
                </a:solidFill>
                <a:latin typeface="Segoe UI"/>
              </a:rPr>
              <a:t>UNTRUSTED (for secrecy)</a:t>
            </a:r>
          </a:p>
          <a:p>
            <a:pPr algn="l"/>
            <a:r>
              <a:rPr sz="1500" b="0">
                <a:solidFill>
                  <a:srgbClr val="F5F8FF"/>
                </a:solidFill>
                <a:latin typeface="Segoe UI"/>
              </a:rPr>
              <a:t/>
            </a:r>
          </a:p>
          <a:p>
            <a:pPr algn="l"/>
            <a:r>
              <a:rPr sz="1500" b="0">
                <a:solidFill>
                  <a:srgbClr val="F5F8FF"/>
                </a:solidFill>
                <a:latin typeface="Segoe UI"/>
              </a:rPr>
              <a:t>SFU server &amp; infrastructure</a:t>
            </a:r>
          </a:p>
          <a:p>
            <a:pPr algn="l"/>
            <a:r>
              <a:rPr sz="1500" b="0">
                <a:solidFill>
                  <a:srgbClr val="F5F8FF"/>
                </a:solidFill>
                <a:latin typeface="Segoe UI"/>
              </a:rPr>
              <a:t>Network between client &amp; SFU</a:t>
            </a:r>
          </a:p>
          <a:p>
            <a:pPr algn="l"/>
            <a:r>
              <a:rPr sz="1500" b="0">
                <a:solidFill>
                  <a:srgbClr val="F5F8FF"/>
                </a:solidFill>
                <a:latin typeface="Segoe UI"/>
              </a:rPr>
              <a:t>Cloud provider / logs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80"/>
            <a:ext cx="10881360" cy="1645920"/>
          </a:xfrm>
          <a:prstGeom prst="roundRect">
            <a:avLst/>
          </a:prstGeom>
          <a:solidFill>
            <a:srgbClr val="6B478F"/>
          </a:solidFill>
          <a:ln w="15875">
            <a:solidFill>
              <a:srgbClr val="4C9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5F8FF"/>
                </a:solidFill>
                <a:latin typeface="Segoe UI"/>
              </a:rPr>
              <a:t>SFU = partially trusted</a:t>
            </a:r>
          </a:p>
          <a:p>
            <a:pPr algn="ctr"/>
            <a:r>
              <a:rPr sz="1600" b="1">
                <a:solidFill>
                  <a:srgbClr val="F5F8FF"/>
                </a:solidFill>
                <a:latin typeface="Segoe UI"/>
              </a:rPr>
              <a:t>Trusted to relay packets (availability), NOT trusted with keys (secrecy).</a:t>
            </a:r>
          </a:p>
          <a:p>
            <a:pPr algn="ctr"/>
            <a:r>
              <a:rPr sz="1600" b="1">
                <a:solidFill>
                  <a:srgbClr val="F5F8FF"/>
                </a:solidFill>
                <a:latin typeface="Segoe UI"/>
              </a:rPr>
              <a:t>It can drop or delay packets, but can never read the E2E media.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9B8D6"/>
                </a:solidFill>
                <a:latin typeface="Segoe UI"/>
              </a:rPr>
              <a:t>E2EE WebRTC — Zero-Trust SFU (str0m + PERC)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9B8D6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C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5D09B"/>
                </a:solidFill>
                <a:latin typeface="Segoe UI"/>
              </a:rPr>
              <a:t>KEY DISTRIBUTOR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Segoe UI"/>
              </a:rPr>
              <a:t>Key distribution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640080" cy="548640"/>
          </a:xfrm>
          <a:prstGeom prst="roundRect">
            <a:avLst/>
          </a:prstGeom>
          <a:solidFill>
            <a:srgbClr val="4C9AFF"/>
          </a:solidFill>
          <a:ln w="15875">
            <a:solidFill>
              <a:srgbClr val="4C9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5F8FF"/>
                </a:solidFill>
                <a:latin typeface="Segoe U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1645920"/>
            <a:ext cx="9966960" cy="548640"/>
          </a:xfrm>
          <a:prstGeom prst="roundRect">
            <a:avLst/>
          </a:prstGeom>
          <a:solidFill>
            <a:srgbClr val="1B2A4A"/>
          </a:solidFill>
          <a:ln w="15875">
            <a:solidFill>
              <a:srgbClr val="4C9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0">
                <a:solidFill>
                  <a:srgbClr val="F5F8FF"/>
                </a:solidFill>
                <a:latin typeface="Segoe UI"/>
              </a:rPr>
              <a:t>POST /conference — create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59152"/>
            <a:ext cx="640080" cy="548640"/>
          </a:xfrm>
          <a:prstGeom prst="roundRect">
            <a:avLst/>
          </a:prstGeom>
          <a:solidFill>
            <a:srgbClr val="4C9AFF"/>
          </a:solidFill>
          <a:ln w="15875">
            <a:solidFill>
              <a:srgbClr val="4C9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5F8FF"/>
                </a:solidFill>
                <a:latin typeface="Segoe U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2359152"/>
            <a:ext cx="9966960" cy="548640"/>
          </a:xfrm>
          <a:prstGeom prst="roundRect">
            <a:avLst/>
          </a:prstGeom>
          <a:solidFill>
            <a:srgbClr val="1B2A4A"/>
          </a:solidFill>
          <a:ln w="15875">
            <a:solidFill>
              <a:srgbClr val="35D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0">
                <a:solidFill>
                  <a:srgbClr val="F5F8FF"/>
                </a:solidFill>
                <a:latin typeface="Segoe UI"/>
              </a:rPr>
              <a:t>POST /:id/join — KD mints E2E master key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72384"/>
            <a:ext cx="640080" cy="548640"/>
          </a:xfrm>
          <a:prstGeom prst="roundRect">
            <a:avLst/>
          </a:prstGeom>
          <a:solidFill>
            <a:srgbClr val="4C9AFF"/>
          </a:solidFill>
          <a:ln w="15875">
            <a:solidFill>
              <a:srgbClr val="4C9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5F8FF"/>
                </a:solidFill>
                <a:latin typeface="Segoe UI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3072384"/>
            <a:ext cx="9966960" cy="548640"/>
          </a:xfrm>
          <a:prstGeom prst="roundRect">
            <a:avLst/>
          </a:prstGeom>
          <a:solidFill>
            <a:srgbClr val="1B2A4A"/>
          </a:solidFill>
          <a:ln w="15875">
            <a:solidFill>
              <a:srgbClr val="4C9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0">
                <a:solidFill>
                  <a:srgbClr val="F5F8FF"/>
                </a:solidFill>
                <a:latin typeface="Segoe UI"/>
              </a:rPr>
              <a:t>Key bundle returned (KEK, e2eMasterKey, kekSpi → key_id)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85616"/>
            <a:ext cx="640080" cy="548640"/>
          </a:xfrm>
          <a:prstGeom prst="roundRect">
            <a:avLst/>
          </a:prstGeom>
          <a:solidFill>
            <a:srgbClr val="4C9AFF"/>
          </a:solidFill>
          <a:ln w="15875">
            <a:solidFill>
              <a:srgbClr val="4C9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5F8FF"/>
                </a:solidFill>
                <a:latin typeface="Segoe U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3785616"/>
            <a:ext cx="9966960" cy="548640"/>
          </a:xfrm>
          <a:prstGeom prst="roundRect">
            <a:avLst/>
          </a:prstGeom>
          <a:solidFill>
            <a:srgbClr val="1B2A4A"/>
          </a:solidFill>
          <a:ln w="15875">
            <a:solidFill>
              <a:srgbClr val="4C9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0">
                <a:solidFill>
                  <a:srgbClr val="F5F8FF"/>
                </a:solidFill>
                <a:latin typeface="Segoe UI"/>
              </a:rPr>
              <a:t>WS /ws/endpoint — realtime key updates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98848"/>
            <a:ext cx="640080" cy="548640"/>
          </a:xfrm>
          <a:prstGeom prst="roundRect">
            <a:avLst/>
          </a:prstGeom>
          <a:solidFill>
            <a:srgbClr val="4C9AFF"/>
          </a:solidFill>
          <a:ln w="15875">
            <a:solidFill>
              <a:srgbClr val="4C9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5F8FF"/>
                </a:solidFill>
                <a:latin typeface="Segoe UI"/>
              </a:rPr>
              <a:t>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63040" y="4498848"/>
            <a:ext cx="9966960" cy="548640"/>
          </a:xfrm>
          <a:prstGeom prst="roundRect">
            <a:avLst/>
          </a:prstGeom>
          <a:solidFill>
            <a:srgbClr val="1B2A4A"/>
          </a:solidFill>
          <a:ln w="15875">
            <a:solidFill>
              <a:srgbClr val="35D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0">
                <a:solidFill>
                  <a:srgbClr val="F5F8FF"/>
                </a:solidFill>
                <a:latin typeface="Segoe UI"/>
              </a:rPr>
              <a:t>Member join/leave rotates KEK → 'rekey' pushed to 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212080"/>
            <a:ext cx="640080" cy="548640"/>
          </a:xfrm>
          <a:prstGeom prst="roundRect">
            <a:avLst/>
          </a:prstGeom>
          <a:solidFill>
            <a:srgbClr val="4C9AFF"/>
          </a:solidFill>
          <a:ln w="15875">
            <a:solidFill>
              <a:srgbClr val="4C9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5F8FF"/>
                </a:solidFill>
                <a:latin typeface="Segoe UI"/>
              </a:rPr>
              <a:t>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63040" y="5212080"/>
            <a:ext cx="9966960" cy="548640"/>
          </a:xfrm>
          <a:prstGeom prst="roundRect">
            <a:avLst/>
          </a:prstGeom>
          <a:solidFill>
            <a:srgbClr val="1B2A4A"/>
          </a:solidFill>
          <a:ln w="15875">
            <a:solidFill>
              <a:srgbClr val="4C9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0">
                <a:solidFill>
                  <a:srgbClr val="F5F8FF"/>
                </a:solidFill>
                <a:latin typeface="Segoe UI"/>
              </a:rPr>
              <a:t>Client installs key: pc.installE2eeKey(keyId, keyBuf)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9B8D6"/>
                </a:solidFill>
                <a:latin typeface="Segoe UI"/>
              </a:rPr>
              <a:t>E2EE WebRTC — Zero-Trust SFU (str0m + PERC)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9B8D6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C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5D09B"/>
                </a:solidFill>
                <a:latin typeface="Segoe UI"/>
              </a:rPr>
              <a:t>ON THE WIRE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Segoe UI"/>
              </a:rPr>
              <a:t>Inner E2E frame format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9B8D6"/>
                </a:solidFill>
                <a:latin typeface="Segoe UI"/>
              </a:rPr>
              <a:t>AES-128-GCM at the encoded-frame boundary (libwebrtc FrameTransformer), empty AAD: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86000"/>
            <a:ext cx="1463040" cy="1005840"/>
          </a:xfrm>
          <a:prstGeom prst="roundRect">
            <a:avLst/>
          </a:prstGeom>
          <a:solidFill>
            <a:srgbClr val="1B2A4A"/>
          </a:solidFill>
          <a:ln w="15875">
            <a:solidFill>
              <a:srgbClr val="4C9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5F8FF"/>
                </a:solidFill>
                <a:latin typeface="Segoe UI"/>
              </a:rPr>
              <a:t>key_id
1B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95728" y="2286000"/>
            <a:ext cx="2194560" cy="1005840"/>
          </a:xfrm>
          <a:prstGeom prst="roundRect">
            <a:avLst/>
          </a:prstGeom>
          <a:solidFill>
            <a:srgbClr val="1B2A4A"/>
          </a:solidFill>
          <a:ln w="15875">
            <a:solidFill>
              <a:srgbClr val="35D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5F8FF"/>
                </a:solidFill>
                <a:latin typeface="Segoe UI"/>
              </a:rPr>
              <a:t>IV
12B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0016" y="2286000"/>
            <a:ext cx="4572000" cy="1005840"/>
          </a:xfrm>
          <a:prstGeom prst="roundRect">
            <a:avLst/>
          </a:prstGeom>
          <a:solidFill>
            <a:srgbClr val="1B2A4A"/>
          </a:solidFill>
          <a:ln w="15875">
            <a:solidFill>
              <a:srgbClr val="6B47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5F8FF"/>
                </a:solidFill>
                <a:latin typeface="Segoe UI"/>
              </a:rPr>
              <a:t>ciphertext
N bytes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81744" y="2286000"/>
            <a:ext cx="1828800" cy="1005840"/>
          </a:xfrm>
          <a:prstGeom prst="roundRect">
            <a:avLst/>
          </a:prstGeom>
          <a:solidFill>
            <a:srgbClr val="1B2A4A"/>
          </a:solidFill>
          <a:ln w="15875">
            <a:solidFill>
              <a:srgbClr val="F2B1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5F8FF"/>
                </a:solidFill>
                <a:latin typeface="Segoe UI"/>
              </a:rPr>
              <a:t>GCM tag
16B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52"/>
              </a:spcAft>
            </a:pPr>
            <a:r>
              <a:rPr sz="1800">
                <a:solidFill>
                  <a:srgbClr val="F5F8FF"/>
                </a:solidFill>
                <a:latin typeface="Segoe UI"/>
              </a:rPr>
              <a:t>• key_id — KEK SPI / epoch selector from the Key Distributor.</a:t>
            </a:r>
          </a:p>
          <a:p>
            <a:pPr>
              <a:spcAft>
                <a:spcPts val="1152"/>
              </a:spcAft>
            </a:pPr>
            <a:r>
              <a:rPr sz="1800">
                <a:solidFill>
                  <a:srgbClr val="F5F8FF"/>
                </a:solidFill>
                <a:latin typeface="Segoe UI"/>
              </a:rPr>
              <a:t>• IV — SSRC (4B, big-endian) ‖ frame counter (8B).</a:t>
            </a:r>
          </a:p>
          <a:p>
            <a:pPr>
              <a:spcAft>
                <a:spcPts val="1152"/>
              </a:spcAft>
            </a:pPr>
            <a:r>
              <a:rPr sz="1800">
                <a:solidFill>
                  <a:srgbClr val="F5F8FF"/>
                </a:solidFill>
                <a:latin typeface="Segoe UI"/>
              </a:rPr>
              <a:t>• Fixed overhead = 1 + 12 + 16 = 29 bytes per frame.</a:t>
            </a:r>
          </a:p>
          <a:p>
            <a:pPr>
              <a:spcAft>
                <a:spcPts val="1152"/>
              </a:spcAft>
            </a:pPr>
            <a:r>
              <a:rPr sz="1800">
                <a:solidFill>
                  <a:srgbClr val="F5F8FF"/>
                </a:solidFill>
                <a:latin typeface="Segoe UI"/>
              </a:rPr>
              <a:t>• SFU forwards this inner payload byte-for-byte (no per-packet rewriting).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9B8D6"/>
                </a:solidFill>
                <a:latin typeface="Segoe UI"/>
              </a:rPr>
              <a:t>E2EE WebRTC — Zero-Trust SFU (str0m + PERC)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9B8D6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C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5D09B"/>
                </a:solidFill>
                <a:latin typeface="Segoe UI"/>
              </a:rPr>
              <a:t>HARD-WON SUBTLETY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Segoe UI"/>
              </a:rPr>
              <a:t>The VP8 keyframe marker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0881360" cy="1188720"/>
          </a:xfrm>
          <a:prstGeom prst="roundRect">
            <a:avLst/>
          </a:prstGeom>
          <a:solidFill>
            <a:srgbClr val="1B2A4A"/>
          </a:solidFill>
          <a:ln w="15875">
            <a:solidFill>
              <a:srgbClr val="E8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0">
                <a:solidFill>
                  <a:srgbClr val="F5F8FF"/>
                </a:solidFill>
                <a:latin typeface="Segoe UI"/>
              </a:rPr>
              <a:t>Problem</a:t>
            </a:r>
          </a:p>
          <a:p>
            <a:pPr algn="l"/>
            <a:r>
              <a:rPr sz="1400" b="0">
                <a:solidFill>
                  <a:srgbClr val="F5F8FF"/>
                </a:solidFill>
                <a:latin typeface="Segoe UI"/>
              </a:rPr>
              <a:t>Full-frame E2EE hides the codec bitstream. The depacketizer reads the VP8</a:t>
            </a:r>
          </a:p>
          <a:p>
            <a:pPr algn="l"/>
            <a:r>
              <a:rPr sz="1400" b="0">
                <a:solidFill>
                  <a:srgbClr val="F5F8FF"/>
                </a:solidFill>
                <a:latin typeface="Segoe UI"/>
              </a:rPr>
              <a:t>keyframe bit from byte 0 — now it's key_id. Every frame looks like a delta →</a:t>
            </a:r>
          </a:p>
          <a:p>
            <a:pPr algn="l"/>
            <a:r>
              <a:rPr sz="1400" b="0">
                <a:solidFill>
                  <a:srgbClr val="F5F8FF"/>
                </a:solidFill>
                <a:latin typeface="Segoe UI"/>
              </a:rPr>
              <a:t>decoder never starts → endless PLIs → black video.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08960"/>
            <a:ext cx="10881360" cy="914400"/>
          </a:xfrm>
          <a:prstGeom prst="roundRect">
            <a:avLst/>
          </a:prstGeom>
          <a:solidFill>
            <a:srgbClr val="1B2A4A"/>
          </a:solidFill>
          <a:ln w="15875">
            <a:solidFill>
              <a:srgbClr val="35D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5F8FF"/>
                </a:solidFill>
                <a:latin typeface="Segoe UI"/>
              </a:rPr>
              <a:t>Fix — prepend a 1-byte cleartext marker to VIDEO frames</a:t>
            </a:r>
          </a:p>
          <a:p>
            <a:pPr algn="ctr"/>
            <a:r>
              <a:rPr sz="1500" b="1">
                <a:solidFill>
                  <a:srgbClr val="F5F8FF"/>
                </a:solidFill>
                <a:latin typeface="Segoe UI"/>
              </a:rPr>
              <a:t>0x00 = keyframe   ·   0x01 = delta   (from encoder IsKeyFrame())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297680"/>
            <a:ext cx="1280160" cy="822960"/>
          </a:xfrm>
          <a:prstGeom prst="roundRect">
            <a:avLst/>
          </a:prstGeom>
          <a:solidFill>
            <a:srgbClr val="F2B14C"/>
          </a:solidFill>
          <a:ln w="15875">
            <a:solidFill>
              <a:srgbClr val="F2B1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0F172A"/>
                </a:solidFill>
                <a:latin typeface="Segoe UI"/>
              </a:rPr>
              <a:t>marker
1B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4297680"/>
            <a:ext cx="8778240" cy="822960"/>
          </a:xfrm>
          <a:prstGeom prst="roundRect">
            <a:avLst/>
          </a:prstGeom>
          <a:solidFill>
            <a:srgbClr val="1B2A4A"/>
          </a:solidFill>
          <a:ln w="15875">
            <a:solidFill>
              <a:srgbClr val="4C9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5F8FF"/>
                </a:solidFill>
                <a:latin typeface="Segoe UI"/>
              </a:rPr>
              <a:t>key_id · IV · ciphertext · GCM tag  (inner E2E payload)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0352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9B8D6"/>
                </a:solidFill>
                <a:latin typeface="Segoe UI"/>
              </a:rPr>
              <a:t>Receiver strips the marker before the key-id check &amp; decrypt; audio frames carry no marker.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9B8D6"/>
                </a:solidFill>
                <a:latin typeface="Segoe UI"/>
              </a:rPr>
              <a:t>E2EE WebRTC — Zero-Trust SFU (str0m + PERC)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9B8D6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C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5D09B"/>
                </a:solidFill>
                <a:latin typeface="Segoe UI"/>
              </a:rPr>
              <a:t>RTCP ACROSS LEGS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Segoe UI"/>
              </a:rPr>
              <a:t>Keyframe (PLI/FIR) relay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2468880" cy="1280160"/>
          </a:xfrm>
          <a:prstGeom prst="roundRect">
            <a:avLst/>
          </a:prstGeom>
          <a:solidFill>
            <a:srgbClr val="2E5C9E"/>
          </a:solidFill>
          <a:ln w="15875">
            <a:solidFill>
              <a:srgbClr val="4C9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5F8FF"/>
                </a:solidFill>
                <a:latin typeface="Segoe UI"/>
              </a:rPr>
              <a:t>Receiver B</a:t>
            </a:r>
          </a:p>
          <a:p>
            <a:pPr algn="ctr"/>
            <a:r>
              <a:rPr sz="1500" b="1">
                <a:solidFill>
                  <a:srgbClr val="F5F8FF"/>
                </a:solidFill>
                <a:latin typeface="Segoe UI"/>
              </a:rPr>
              <a:t>sends PLI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2743200"/>
            <a:ext cx="2468880" cy="1280160"/>
          </a:xfrm>
          <a:prstGeom prst="roundRect">
            <a:avLst/>
          </a:prstGeom>
          <a:solidFill>
            <a:srgbClr val="6B478F"/>
          </a:solidFill>
          <a:ln w="15875">
            <a:solidFill>
              <a:srgbClr val="4C9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5F8FF"/>
                </a:solidFill>
                <a:latin typeface="Segoe UI"/>
              </a:rPr>
              <a:t>SFU</a:t>
            </a:r>
          </a:p>
          <a:p>
            <a:pPr algn="ctr"/>
            <a:r>
              <a:rPr sz="1500" b="1">
                <a:solidFill>
                  <a:srgbClr val="F5F8FF"/>
                </a:solidFill>
                <a:latin typeface="Segoe UI"/>
              </a:rPr>
              <a:t>map B → sender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2743200"/>
            <a:ext cx="2468880" cy="1280160"/>
          </a:xfrm>
          <a:prstGeom prst="roundRect">
            <a:avLst/>
          </a:prstGeom>
          <a:solidFill>
            <a:srgbClr val="2E5C9E"/>
          </a:solidFill>
          <a:ln w="15875">
            <a:solidFill>
              <a:srgbClr val="4C9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5F8FF"/>
                </a:solidFill>
                <a:latin typeface="Segoe UI"/>
              </a:rPr>
              <a:t>Sender A</a:t>
            </a:r>
          </a:p>
          <a:p>
            <a:pPr algn="ctr"/>
            <a:r>
              <a:rPr sz="1500" b="1">
                <a:solidFill>
                  <a:srgbClr val="F5F8FF"/>
                </a:solidFill>
                <a:latin typeface="Segoe UI"/>
              </a:rPr>
              <a:t>request_keyframe()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0" y="3383280"/>
            <a:ext cx="1737360" cy="0"/>
          </a:xfrm>
          <a:prstGeom prst="line">
            <a:avLst/>
          </a:prstGeom>
          <a:ln w="31750">
            <a:solidFill>
              <a:srgbClr val="F2B14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0" y="3383280"/>
            <a:ext cx="1737360" cy="0"/>
          </a:xfrm>
          <a:prstGeom prst="line">
            <a:avLst/>
          </a:prstGeom>
          <a:ln w="31750">
            <a:solidFill>
              <a:srgbClr val="F2B14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43891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52"/>
              </a:spcAft>
            </a:pPr>
            <a:r>
              <a:rPr sz="1800">
                <a:solidFill>
                  <a:srgbClr val="F5F8FF"/>
                </a:solidFill>
                <a:latin typeface="Segoe UI"/>
              </a:rPr>
              <a:t>• Because HBH SRTP terminates per leg, RTCP feedback terminates per leg too.</a:t>
            </a:r>
          </a:p>
          <a:p>
            <a:pPr>
              <a:spcAft>
                <a:spcPts val="1152"/>
              </a:spcAft>
            </a:pPr>
            <a:r>
              <a:rPr sz="1800">
                <a:solidFill>
                  <a:srgbClr val="F5F8FF"/>
                </a:solidFill>
                <a:latin typeface="Segoe UI"/>
              </a:rPr>
              <a:t>• On Event::KeyframeRequest the SFU maps the requester to the sending peer in the room.</a:t>
            </a:r>
          </a:p>
          <a:p>
            <a:pPr>
              <a:spcAft>
                <a:spcPts val="1152"/>
              </a:spcAft>
            </a:pPr>
            <a:r>
              <a:rPr sz="1800">
                <a:solidFill>
                  <a:srgbClr val="F5F8FF"/>
                </a:solidFill>
                <a:latin typeface="Segoe UI"/>
              </a:rPr>
              <a:t>• It calls request_keyframe(kind) on that sender's video rx stream — so a fresh keyframe flows.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9B8D6"/>
                </a:solidFill>
                <a:latin typeface="Segoe UI"/>
              </a:rPr>
              <a:t>E2EE WebRTC — Zero-Trust SFU (str0m + PERC)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9B8D6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C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5D09B"/>
                </a:solidFill>
                <a:latin typeface="Segoe UI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Segoe UI"/>
              </a:rPr>
              <a:t>What the SFU can — and cannot — see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303520" cy="3291840"/>
          </a:xfrm>
          <a:prstGeom prst="roundRect">
            <a:avLst/>
          </a:prstGeom>
          <a:solidFill>
            <a:srgbClr val="1B2A4A"/>
          </a:solidFill>
          <a:ln w="15875">
            <a:solidFill>
              <a:srgbClr val="F2B1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600" b="0">
                <a:solidFill>
                  <a:srgbClr val="F5F8FF"/>
                </a:solidFill>
                <a:latin typeface="Segoe UI"/>
              </a:rPr>
              <a:t>VISIBLE</a:t>
            </a:r>
          </a:p>
          <a:p>
            <a:pPr algn="l"/>
            <a:r>
              <a:rPr sz="1600" b="0">
                <a:solidFill>
                  <a:srgbClr val="F5F8FF"/>
                </a:solidFill>
                <a:latin typeface="Segoe UI"/>
              </a:rPr>
              <a:t/>
            </a:r>
          </a:p>
          <a:p>
            <a:pPr algn="l"/>
            <a:r>
              <a:rPr sz="1600" b="0">
                <a:solidFill>
                  <a:srgbClr val="F5F8FF"/>
                </a:solidFill>
                <a:latin typeface="Segoe UI"/>
              </a:rPr>
              <a:t>RTP headers (SSRC/PT/seq/ts)</a:t>
            </a:r>
          </a:p>
          <a:p>
            <a:pPr algn="l"/>
            <a:r>
              <a:rPr sz="1600" b="0">
                <a:solidFill>
                  <a:srgbClr val="F5F8FF"/>
                </a:solidFill>
                <a:latin typeface="Segoe UI"/>
              </a:rPr>
              <a:t>HBH SRTP for its own legs</a:t>
            </a:r>
          </a:p>
          <a:p>
            <a:pPr algn="l"/>
            <a:r>
              <a:rPr sz="1600" b="0">
                <a:solidFill>
                  <a:srgbClr val="F5F8FF"/>
                </a:solidFill>
                <a:latin typeface="Segoe UI"/>
              </a:rPr>
              <a:t>1-byte VP8 key/delta marker</a:t>
            </a:r>
          </a:p>
          <a:p>
            <a:pPr algn="l"/>
            <a:r>
              <a:rPr sz="1600" b="0">
                <a:solidFill>
                  <a:srgbClr val="F5F8FF"/>
                </a:solidFill>
                <a:latin typeface="Segoe UI"/>
              </a:rPr>
              <a:t>Packet sizes &amp; timing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303520" cy="3291840"/>
          </a:xfrm>
          <a:prstGeom prst="roundRect">
            <a:avLst/>
          </a:prstGeom>
          <a:solidFill>
            <a:srgbClr val="1B2A4A"/>
          </a:solidFill>
          <a:ln w="15875">
            <a:solidFill>
              <a:srgbClr val="35D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600" b="0">
                <a:solidFill>
                  <a:srgbClr val="F5F8FF"/>
                </a:solidFill>
                <a:latin typeface="Segoe UI"/>
              </a:rPr>
              <a:t>HIDDEN</a:t>
            </a:r>
          </a:p>
          <a:p>
            <a:pPr algn="l"/>
            <a:r>
              <a:rPr sz="1600" b="0">
                <a:solidFill>
                  <a:srgbClr val="F5F8FF"/>
                </a:solidFill>
                <a:latin typeface="Segoe UI"/>
              </a:rPr>
              <a:t/>
            </a:r>
          </a:p>
          <a:p>
            <a:pPr algn="l"/>
            <a:r>
              <a:rPr sz="1600" b="0">
                <a:solidFill>
                  <a:srgbClr val="F5F8FF"/>
                </a:solidFill>
                <a:latin typeface="Segoe UI"/>
              </a:rPr>
              <a:t>E2E media payload (inner GCM)</a:t>
            </a:r>
          </a:p>
          <a:p>
            <a:pPr algn="l"/>
            <a:r>
              <a:rPr sz="1600" b="0">
                <a:solidFill>
                  <a:srgbClr val="F5F8FF"/>
                </a:solidFill>
                <a:latin typeface="Segoe UI"/>
              </a:rPr>
              <a:t>The E2E key (KD + clients only)</a:t>
            </a:r>
          </a:p>
          <a:p>
            <a:pPr algn="l"/>
            <a:r>
              <a:rPr sz="1600" b="0">
                <a:solidFill>
                  <a:srgbClr val="F5F8FF"/>
                </a:solidFill>
                <a:latin typeface="Segoe UI"/>
              </a:rPr>
              <a:t>Decoded media / codec bitstream</a:t>
            </a:r>
          </a:p>
          <a:p>
            <a:pPr algn="l"/>
            <a:r>
              <a:rPr sz="1600" b="0">
                <a:solidFill>
                  <a:srgbClr val="F5F8FF"/>
                </a:solidFill>
                <a:latin typeface="Segoe UI"/>
              </a:rPr>
              <a:t>Inner header extensions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0352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A9B8D6"/>
                </a:solidFill>
                <a:latin typeface="Segoe UI"/>
              </a:rPr>
              <a:t>Server compromise leaks routing metadata only — never the media content.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9B8D6"/>
                </a:solidFill>
                <a:latin typeface="Segoe UI"/>
              </a:rPr>
              <a:t>E2EE WebRTC — Zero-Trust SFU (str0m + PERC)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9B8D6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C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5D09B"/>
                </a:solidFill>
                <a:latin typeface="Segoe UI"/>
              </a:rPr>
              <a:t>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Segoe UI"/>
              </a:rPr>
              <a:t>Unified configuration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291840" cy="1005840"/>
          </a:xfrm>
          <a:prstGeom prst="roundRect">
            <a:avLst/>
          </a:prstGeom>
          <a:solidFill>
            <a:srgbClr val="1B2A4A"/>
          </a:solidFill>
          <a:ln w="15875">
            <a:solidFill>
              <a:srgbClr val="4C9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5F8FF"/>
                </a:solidFill>
                <a:latin typeface="Segoe UI"/>
              </a:rPr>
              <a:t>config.json (JSONC)</a:t>
            </a:r>
          </a:p>
          <a:p>
            <a:pPr algn="ctr"/>
            <a:r>
              <a:rPr sz="1400" b="1">
                <a:solidFill>
                  <a:srgbClr val="F5F8FF"/>
                </a:solidFill>
                <a:latin typeface="Segoe UI"/>
              </a:rPr>
              <a:t>sectioned OR flat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645920"/>
            <a:ext cx="2286000" cy="1005840"/>
          </a:xfrm>
          <a:prstGeom prst="roundRect">
            <a:avLst/>
          </a:prstGeom>
          <a:solidFill>
            <a:srgbClr val="1B2A4A"/>
          </a:solidFill>
          <a:ln w="15875">
            <a:solidFill>
              <a:srgbClr val="4C9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>
                <a:solidFill>
                  <a:srgbClr val="F5F8FF"/>
                </a:solidFill>
                <a:latin typeface="Segoe UI"/>
              </a:rPr>
              <a:t>sfu</a:t>
            </a:r>
          </a:p>
          <a:p>
            <a:pPr algn="ctr"/>
            <a:r>
              <a:rPr sz="1300" b="0">
                <a:solidFill>
                  <a:srgbClr val="F5F8FF"/>
                </a:solidFill>
                <a:latin typeface="Segoe UI"/>
              </a:rPr>
              <a:t>+ shared
logging/stats/diag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31920" y="2148840"/>
            <a:ext cx="274320" cy="0"/>
          </a:xfrm>
          <a:prstGeom prst="line">
            <a:avLst/>
          </a:prstGeom>
          <a:ln w="19050">
            <a:solidFill>
              <a:srgbClr val="A9B8D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675120" y="1645920"/>
            <a:ext cx="2286000" cy="1005840"/>
          </a:xfrm>
          <a:prstGeom prst="roundRect">
            <a:avLst/>
          </a:prstGeom>
          <a:solidFill>
            <a:srgbClr val="1B2A4A"/>
          </a:solidFill>
          <a:ln w="15875">
            <a:solidFill>
              <a:srgbClr val="35D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>
                <a:solidFill>
                  <a:srgbClr val="F5F8FF"/>
                </a:solidFill>
                <a:latin typeface="Segoe UI"/>
              </a:rPr>
              <a:t>keyDistributor</a:t>
            </a:r>
          </a:p>
          <a:p>
            <a:pPr algn="ctr"/>
            <a:r>
              <a:rPr sz="1300" b="0">
                <a:solidFill>
                  <a:srgbClr val="F5F8FF"/>
                </a:solidFill>
                <a:latin typeface="Segoe UI"/>
              </a:rPr>
              <a:t>+ shared
logging/stats/diag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31920" y="2148840"/>
            <a:ext cx="2743200" cy="0"/>
          </a:xfrm>
          <a:prstGeom prst="line">
            <a:avLst/>
          </a:prstGeom>
          <a:ln w="19050">
            <a:solidFill>
              <a:srgbClr val="A9B8D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0" y="1645920"/>
            <a:ext cx="2286000" cy="1005840"/>
          </a:xfrm>
          <a:prstGeom prst="roundRect">
            <a:avLst/>
          </a:prstGeom>
          <a:solidFill>
            <a:srgbClr val="1B2A4A"/>
          </a:solidFill>
          <a:ln w="15875">
            <a:solidFill>
              <a:srgbClr val="2E5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>
                <a:solidFill>
                  <a:srgbClr val="F5F8FF"/>
                </a:solidFill>
                <a:latin typeface="Segoe UI"/>
              </a:rPr>
              <a:t>client</a:t>
            </a:r>
          </a:p>
          <a:p>
            <a:pPr algn="ctr"/>
            <a:r>
              <a:rPr sz="1300" b="0">
                <a:solidFill>
                  <a:srgbClr val="F5F8FF"/>
                </a:solidFill>
                <a:latin typeface="Segoe UI"/>
              </a:rPr>
              <a:t>+ shared
logging/stats/diag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31920" y="2148840"/>
            <a:ext cx="5212080" cy="0"/>
          </a:xfrm>
          <a:prstGeom prst="line">
            <a:avLst/>
          </a:prstGeom>
          <a:ln w="19050">
            <a:solidFill>
              <a:srgbClr val="A9B8D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30175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52"/>
              </a:spcAft>
            </a:pPr>
            <a:r>
              <a:rPr sz="1800">
                <a:solidFill>
                  <a:srgbClr val="F5F8FF"/>
                </a:solidFill>
                <a:latin typeface="Segoe UI"/>
              </a:rPr>
              <a:t>• Resolution: --config (repeatable, deep-merge) → E2EE_CONFIG env → ./config.json.</a:t>
            </a:r>
          </a:p>
          <a:p>
            <a:pPr>
              <a:spcAft>
                <a:spcPts val="1152"/>
              </a:spcAft>
            </a:pPr>
            <a:r>
              <a:rPr sz="1800">
                <a:solidFill>
                  <a:srgbClr val="F5F8FF"/>
                </a:solidFill>
                <a:latin typeface="Segoe UI"/>
              </a:rPr>
              <a:t>• Same loader handles one combined file or per-host flat files; JSONC + trailing commas.</a:t>
            </a:r>
          </a:p>
          <a:p>
            <a:pPr>
              <a:spcAft>
                <a:spcPts val="1152"/>
              </a:spcAft>
            </a:pPr>
            <a:r>
              <a:rPr sz="1800">
                <a:solidFill>
                  <a:srgbClr val="F5F8FF"/>
                </a:solidFill>
                <a:latin typeface="Segoe UI"/>
              </a:rPr>
              <a:t>• Node apps share config-loader.js; str0m uses a matching loader in examples/util.</a:t>
            </a:r>
          </a:p>
          <a:p>
            <a:pPr>
              <a:spcAft>
                <a:spcPts val="1152"/>
              </a:spcAft>
            </a:pPr>
            <a:r>
              <a:rPr sz="1800">
                <a:solidFill>
                  <a:srgbClr val="F5F8FF"/>
                </a:solidFill>
                <a:latin typeface="Segoe UI"/>
              </a:rPr>
              <a:t>• Client pushes media params to native via env vars (width/height/fps/bitrate/codec).</a:t>
            </a:r>
          </a:p>
          <a:p>
            <a:pPr>
              <a:spcAft>
                <a:spcPts val="1152"/>
              </a:spcAft>
            </a:pPr>
            <a:r>
              <a:rPr sz="1800">
                <a:solidFill>
                  <a:srgbClr val="F5F8FF"/>
                </a:solidFill>
                <a:latin typeface="Segoe UI"/>
              </a:rPr>
              <a:t>• Toggles: log-to-file, periodic stats, wire log, per-frame E2E diagnostics.</a:t>
            </a:r>
          </a:p>
          <a:p>
            <a:pPr>
              <a:spcAft>
                <a:spcPts val="1152"/>
              </a:spcAft>
            </a:pPr>
            <a:r>
              <a:rPr sz="1800">
                <a:solidFill>
                  <a:srgbClr val="F5F8FF"/>
                </a:solidFill>
                <a:latin typeface="Segoe UI"/>
              </a:rPr>
              <a:t>• run-all.ps1 launches SFU + KD + two clients against the shared config.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9B8D6"/>
                </a:solidFill>
                <a:latin typeface="Segoe UI"/>
              </a:rPr>
              <a:t>E2EE WebRTC — Zero-Trust SFU (str0m + PERC)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9B8D6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C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5D09B"/>
                </a:solidFill>
                <a:latin typeface="Segoe U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5F8FF"/>
                </a:solidFill>
                <a:latin typeface="Segoe UI"/>
              </a:rPr>
              <a:t>Done &amp; what's next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303520" cy="3108960"/>
          </a:xfrm>
          <a:prstGeom prst="roundRect">
            <a:avLst/>
          </a:prstGeom>
          <a:solidFill>
            <a:srgbClr val="1B2A4A"/>
          </a:solidFill>
          <a:ln w="15875">
            <a:solidFill>
              <a:srgbClr val="35D0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0">
                <a:solidFill>
                  <a:srgbClr val="F5F8FF"/>
                </a:solidFill>
                <a:latin typeface="Segoe UI"/>
              </a:rPr>
              <a:t>COMPLETED ✅</a:t>
            </a:r>
          </a:p>
          <a:p>
            <a:pPr algn="l"/>
            <a:r>
              <a:rPr sz="1500" b="0">
                <a:solidFill>
                  <a:srgbClr val="F5F8FF"/>
                </a:solidFill>
                <a:latin typeface="Segoe UI"/>
              </a:rPr>
              <a:t/>
            </a:r>
          </a:p>
          <a:p>
            <a:pPr algn="l"/>
            <a:r>
              <a:rPr sz="1500" b="0">
                <a:solidFill>
                  <a:srgbClr val="F5F8FF"/>
                </a:solidFill>
                <a:latin typeface="Segoe UI"/>
              </a:rPr>
              <a:t>Key Distributor service</a:t>
            </a:r>
          </a:p>
          <a:p>
            <a:pPr algn="l"/>
            <a:r>
              <a:rPr sz="1500" b="0">
                <a:solidFill>
                  <a:srgbClr val="F5F8FF"/>
                </a:solidFill>
                <a:latin typeface="Segoe UI"/>
              </a:rPr>
              <a:t>Frame-level AES-128-GCM E2E</a:t>
            </a:r>
          </a:p>
          <a:p>
            <a:pPr algn="l"/>
            <a:r>
              <a:rPr sz="1500" b="0">
                <a:solidFill>
                  <a:srgbClr val="F5F8FF"/>
                </a:solidFill>
                <a:latin typeface="Segoe UI"/>
              </a:rPr>
              <a:t>PERC-capable native client</a:t>
            </a:r>
          </a:p>
          <a:p>
            <a:pPr algn="l"/>
            <a:r>
              <a:rPr sz="1500" b="0">
                <a:solidFill>
                  <a:srgbClr val="F5F8FF"/>
                </a:solidFill>
                <a:latin typeface="Segoe UI"/>
              </a:rPr>
              <a:t>VP8 keyframe marker</a:t>
            </a:r>
          </a:p>
          <a:p>
            <a:pPr algn="l"/>
            <a:r>
              <a:rPr sz="1500" b="0">
                <a:solidFill>
                  <a:srgbClr val="F5F8FF"/>
                </a:solidFill>
                <a:latin typeface="Segoe UI"/>
              </a:rPr>
              <a:t>Keyframe (PLI/FIR) relay</a:t>
            </a:r>
          </a:p>
          <a:p>
            <a:pPr algn="l"/>
            <a:r>
              <a:rPr sz="1500" b="0">
                <a:solidFill>
                  <a:srgbClr val="F5F8FF"/>
                </a:solidFill>
                <a:latin typeface="Segoe UI"/>
              </a:rPr>
              <a:t>Unified config + launcher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303520" cy="3108960"/>
          </a:xfrm>
          <a:prstGeom prst="roundRect">
            <a:avLst/>
          </a:prstGeom>
          <a:solidFill>
            <a:srgbClr val="1B2A4A"/>
          </a:solidFill>
          <a:ln w="15875">
            <a:solidFill>
              <a:srgbClr val="4C9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0">
                <a:solidFill>
                  <a:srgbClr val="F5F8FF"/>
                </a:solidFill>
                <a:latin typeface="Segoe UI"/>
              </a:rPr>
              <a:t>NEXT</a:t>
            </a:r>
          </a:p>
          <a:p>
            <a:pPr algn="l"/>
            <a:r>
              <a:rPr sz="1500" b="0">
                <a:solidFill>
                  <a:srgbClr val="F5F8FF"/>
                </a:solidFill>
                <a:latin typeface="Segoe UI"/>
              </a:rPr>
              <a:t/>
            </a:r>
          </a:p>
          <a:p>
            <a:pPr algn="l"/>
            <a:r>
              <a:rPr sz="1500" b="0">
                <a:solidFill>
                  <a:srgbClr val="F5F8FF"/>
                </a:solidFill>
                <a:latin typeface="Segoe UI"/>
              </a:rPr>
              <a:t>RFC 8723 at the SRTP layer</a:t>
            </a:r>
          </a:p>
          <a:p>
            <a:pPr algn="l"/>
            <a:r>
              <a:rPr sz="1500" b="0">
                <a:solidFill>
                  <a:srgbClr val="F5F8FF"/>
                </a:solidFill>
                <a:latin typeface="Segoe UI"/>
              </a:rPr>
              <a:t>Multi-party (N:N) routing</a:t>
            </a:r>
          </a:p>
          <a:p>
            <a:pPr algn="l"/>
            <a:r>
              <a:rPr sz="1500" b="0">
                <a:solidFill>
                  <a:srgbClr val="F5F8FF"/>
                </a:solidFill>
                <a:latin typeface="Segoe UI"/>
              </a:rPr>
              <a:t>EKT (RFC 8870) key transport</a:t>
            </a:r>
          </a:p>
          <a:p>
            <a:pPr algn="l"/>
            <a:r>
              <a:rPr sz="1500" b="0">
                <a:solidFill>
                  <a:srgbClr val="F5F8FF"/>
                </a:solidFill>
                <a:latin typeface="Segoe UI"/>
              </a:rPr>
              <a:t>Certificate pinning to identity</a:t>
            </a:r>
          </a:p>
          <a:p>
            <a:pPr algn="l"/>
            <a:r>
              <a:rPr sz="1500" b="0">
                <a:solidFill>
                  <a:srgbClr val="F5F8FF"/>
                </a:solidFill>
                <a:latin typeface="Segoe UI"/>
              </a:rPr>
              <a:t>Encrypted headers (Cryptex)</a:t>
            </a:r>
          </a:p>
          <a:p>
            <a:pPr algn="l"/>
            <a:r>
              <a:rPr sz="1500" b="0">
                <a:solidFill>
                  <a:srgbClr val="F5F8FF"/>
                </a:solidFill>
                <a:latin typeface="Segoe UI"/>
              </a:rPr>
              <a:t>MLS group key agreement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9B8D6"/>
                </a:solidFill>
                <a:latin typeface="Segoe UI"/>
              </a:rPr>
              <a:t>E2EE WebRTC — Zero-Trust SFU (str0m + PERC)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A9B8D6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